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72"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9C02F15-AEFE-4C25-8DC9-8350A668AD4B}"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415A8C-67E8-4D2D-BD53-76CFE751689A}"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8229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C02F15-AEFE-4C25-8DC9-8350A668AD4B}"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415A8C-67E8-4D2D-BD53-76CFE751689A}" type="slidenum">
              <a:rPr lang="en-IN" smtClean="0"/>
              <a:t>‹#›</a:t>
            </a:fld>
            <a:endParaRPr lang="en-IN"/>
          </a:p>
        </p:txBody>
      </p:sp>
    </p:spTree>
    <p:extLst>
      <p:ext uri="{BB962C8B-B14F-4D97-AF65-F5344CB8AC3E}">
        <p14:creationId xmlns:p14="http://schemas.microsoft.com/office/powerpoint/2010/main" val="3919066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C02F15-AEFE-4C25-8DC9-8350A668AD4B}"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415A8C-67E8-4D2D-BD53-76CFE751689A}"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069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C02F15-AEFE-4C25-8DC9-8350A668AD4B}" type="datetimeFigureOut">
              <a:rPr lang="en-IN" smtClean="0"/>
              <a:t>17-04-2026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7415A8C-67E8-4D2D-BD53-76CFE751689A}" type="slidenum">
              <a:rPr lang="en-IN" smtClean="0"/>
              <a:t>‹#›</a:t>
            </a:fld>
            <a:endParaRPr lang="en-IN"/>
          </a:p>
        </p:txBody>
      </p:sp>
    </p:spTree>
    <p:extLst>
      <p:ext uri="{BB962C8B-B14F-4D97-AF65-F5344CB8AC3E}">
        <p14:creationId xmlns:p14="http://schemas.microsoft.com/office/powerpoint/2010/main" val="1283983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C02F15-AEFE-4C25-8DC9-8350A668AD4B}" type="datetimeFigureOut">
              <a:rPr lang="en-IN" smtClean="0"/>
              <a:t>17-04-2026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7415A8C-67E8-4D2D-BD53-76CFE751689A}" type="slidenum">
              <a:rPr lang="en-IN" smtClean="0"/>
              <a:t>‹#›</a:t>
            </a:fld>
            <a:endParaRPr lang="en-IN"/>
          </a:p>
        </p:txBody>
      </p:sp>
    </p:spTree>
    <p:extLst>
      <p:ext uri="{BB962C8B-B14F-4D97-AF65-F5344CB8AC3E}">
        <p14:creationId xmlns:p14="http://schemas.microsoft.com/office/powerpoint/2010/main" val="881488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9C02F15-AEFE-4C25-8DC9-8350A668AD4B}" type="datetimeFigureOut">
              <a:rPr lang="en-IN" smtClean="0"/>
              <a:t>17-04-2026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7415A8C-67E8-4D2D-BD53-76CFE751689A}" type="slidenum">
              <a:rPr lang="en-IN" smtClean="0"/>
              <a:t>‹#›</a:t>
            </a:fld>
            <a:endParaRPr lang="en-IN"/>
          </a:p>
        </p:txBody>
      </p:sp>
    </p:spTree>
    <p:extLst>
      <p:ext uri="{BB962C8B-B14F-4D97-AF65-F5344CB8AC3E}">
        <p14:creationId xmlns:p14="http://schemas.microsoft.com/office/powerpoint/2010/main" val="1214784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9C02F15-AEFE-4C25-8DC9-8350A668AD4B}" type="datetimeFigureOut">
              <a:rPr lang="en-IN" smtClean="0"/>
              <a:t>17-04-2026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E7415A8C-67E8-4D2D-BD53-76CFE751689A}" type="slidenum">
              <a:rPr lang="en-IN" smtClean="0"/>
              <a:t>‹#›</a:t>
            </a:fld>
            <a:endParaRPr lang="en-IN"/>
          </a:p>
        </p:txBody>
      </p:sp>
    </p:spTree>
    <p:extLst>
      <p:ext uri="{BB962C8B-B14F-4D97-AF65-F5344CB8AC3E}">
        <p14:creationId xmlns:p14="http://schemas.microsoft.com/office/powerpoint/2010/main" val="2885247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9C02F15-AEFE-4C25-8DC9-8350A668AD4B}" type="datetimeFigureOut">
              <a:rPr lang="en-IN" smtClean="0"/>
              <a:t>17-04-2026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7415A8C-67E8-4D2D-BD53-76CFE751689A}" type="slidenum">
              <a:rPr lang="en-IN" smtClean="0"/>
              <a:t>‹#›</a:t>
            </a:fld>
            <a:endParaRPr lang="en-IN"/>
          </a:p>
        </p:txBody>
      </p:sp>
    </p:spTree>
    <p:extLst>
      <p:ext uri="{BB962C8B-B14F-4D97-AF65-F5344CB8AC3E}">
        <p14:creationId xmlns:p14="http://schemas.microsoft.com/office/powerpoint/2010/main" val="1795884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9C02F15-AEFE-4C25-8DC9-8350A668AD4B}" type="datetimeFigureOut">
              <a:rPr lang="en-IN" smtClean="0"/>
              <a:t>17-04-2026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7415A8C-67E8-4D2D-BD53-76CFE751689A}" type="slidenum">
              <a:rPr lang="en-IN" smtClean="0"/>
              <a:t>‹#›</a:t>
            </a:fld>
            <a:endParaRPr lang="en-IN"/>
          </a:p>
        </p:txBody>
      </p:sp>
    </p:spTree>
    <p:extLst>
      <p:ext uri="{BB962C8B-B14F-4D97-AF65-F5344CB8AC3E}">
        <p14:creationId xmlns:p14="http://schemas.microsoft.com/office/powerpoint/2010/main" val="1104339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C02F15-AEFE-4C25-8DC9-8350A668AD4B}"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415A8C-67E8-4D2D-BD53-76CFE751689A}" type="slidenum">
              <a:rPr lang="en-IN" smtClean="0"/>
              <a:t>‹#›</a:t>
            </a:fld>
            <a:endParaRPr lang="en-IN"/>
          </a:p>
        </p:txBody>
      </p:sp>
    </p:spTree>
    <p:extLst>
      <p:ext uri="{BB962C8B-B14F-4D97-AF65-F5344CB8AC3E}">
        <p14:creationId xmlns:p14="http://schemas.microsoft.com/office/powerpoint/2010/main" val="3008225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C02F15-AEFE-4C25-8DC9-8350A668AD4B}" type="datetimeFigureOut">
              <a:rPr lang="en-IN" smtClean="0"/>
              <a:t>17-04-2026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415A8C-67E8-4D2D-BD53-76CFE751689A}" type="slidenum">
              <a:rPr lang="en-IN" smtClean="0"/>
              <a:t>‹#›</a:t>
            </a:fld>
            <a:endParaRPr lang="en-IN"/>
          </a:p>
        </p:txBody>
      </p:sp>
    </p:spTree>
    <p:extLst>
      <p:ext uri="{BB962C8B-B14F-4D97-AF65-F5344CB8AC3E}">
        <p14:creationId xmlns:p14="http://schemas.microsoft.com/office/powerpoint/2010/main" val="3709935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9C02F15-AEFE-4C25-8DC9-8350A668AD4B}" type="datetimeFigureOut">
              <a:rPr lang="en-IN" smtClean="0"/>
              <a:t>17-04-2026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7415A8C-67E8-4D2D-BD53-76CFE751689A}"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63946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3CDA2-55C0-97FF-FC5C-2A12E4E79EAA}"/>
              </a:ext>
            </a:extLst>
          </p:cNvPr>
          <p:cNvSpPr>
            <a:spLocks noGrp="1"/>
          </p:cNvSpPr>
          <p:nvPr>
            <p:ph type="ctrTitle"/>
          </p:nvPr>
        </p:nvSpPr>
        <p:spPr>
          <a:xfrm>
            <a:off x="1175567" y="3086670"/>
            <a:ext cx="9144000" cy="975172"/>
          </a:xfrm>
        </p:spPr>
        <p:txBody>
          <a:bodyPr>
            <a:noAutofit/>
          </a:bodyPr>
          <a:lstStyle/>
          <a:p>
            <a:pPr algn="l"/>
            <a:r>
              <a:rPr lang="en-IN" sz="2400" dirty="0">
                <a:latin typeface="Times New Roman" panose="02020603050405020304" pitchFamily="18" charset="0"/>
                <a:cs typeface="Times New Roman" panose="02020603050405020304" pitchFamily="18" charset="0"/>
              </a:rPr>
              <a:t>Application of Artificial Intelligence and Machine Learning for</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Crop Yield Prediction and Fertilizer Optimization in Fodder Sorghum</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(Sorghum </a:t>
            </a:r>
            <a:r>
              <a:rPr lang="en-IN" sz="2400" dirty="0" err="1">
                <a:latin typeface="Times New Roman" panose="02020603050405020304" pitchFamily="18" charset="0"/>
                <a:cs typeface="Times New Roman" panose="02020603050405020304" pitchFamily="18" charset="0"/>
              </a:rPr>
              <a:t>bicolor</a:t>
            </a:r>
            <a:r>
              <a:rPr lang="en-IN" sz="2400" dirty="0">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C82F19D3-A721-37B3-1BFF-096CA1512FE3}"/>
              </a:ext>
            </a:extLst>
          </p:cNvPr>
          <p:cNvSpPr>
            <a:spLocks noGrp="1"/>
          </p:cNvSpPr>
          <p:nvPr>
            <p:ph type="subTitle" idx="1"/>
          </p:nvPr>
        </p:nvSpPr>
        <p:spPr>
          <a:xfrm>
            <a:off x="5953380" y="4147794"/>
            <a:ext cx="5707751" cy="5493892"/>
          </a:xfrm>
        </p:spPr>
        <p:txBody>
          <a:bodyPr>
            <a:normAutofit/>
          </a:bodyPr>
          <a:lstStyle/>
          <a:p>
            <a:pPr algn="l"/>
            <a:endParaRPr lang="en-IN" dirty="0"/>
          </a:p>
          <a:p>
            <a:pPr algn="l"/>
            <a:r>
              <a:rPr lang="en-IN" dirty="0">
                <a:solidFill>
                  <a:schemeClr val="tx1"/>
                </a:solidFill>
              </a:rPr>
              <a:t>Student group details</a:t>
            </a:r>
          </a:p>
          <a:p>
            <a:pPr algn="l"/>
            <a:r>
              <a:rPr lang="kn-IN" dirty="0">
                <a:solidFill>
                  <a:schemeClr val="tx1"/>
                </a:solidFill>
              </a:rPr>
              <a:t>AMB2213</a:t>
            </a:r>
            <a:r>
              <a:rPr lang="en-IN" dirty="0">
                <a:solidFill>
                  <a:schemeClr val="tx1"/>
                </a:solidFill>
              </a:rPr>
              <a:t>: </a:t>
            </a:r>
            <a:r>
              <a:rPr lang="kn-IN" dirty="0">
                <a:solidFill>
                  <a:schemeClr val="tx1"/>
                </a:solidFill>
              </a:rPr>
              <a:t>P RAVINDRA REDDY</a:t>
            </a:r>
          </a:p>
          <a:p>
            <a:pPr algn="l"/>
            <a:r>
              <a:rPr lang="kn-IN" dirty="0">
                <a:solidFill>
                  <a:schemeClr val="tx1"/>
                </a:solidFill>
              </a:rPr>
              <a:t>BMB2045:RATHAN N GOWDA</a:t>
            </a:r>
          </a:p>
          <a:p>
            <a:pPr algn="l"/>
            <a:endParaRPr lang="en-IN" dirty="0"/>
          </a:p>
        </p:txBody>
      </p:sp>
      <p:pic>
        <p:nvPicPr>
          <p:cNvPr id="4" name="Picture 3">
            <a:extLst>
              <a:ext uri="{FF2B5EF4-FFF2-40B4-BE49-F238E27FC236}">
                <a16:creationId xmlns:a16="http://schemas.microsoft.com/office/drawing/2014/main" id="{9BA64635-5D0A-2372-382C-A978CB05A6E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34310" y="401885"/>
            <a:ext cx="2874010" cy="1946275"/>
          </a:xfrm>
          <a:prstGeom prst="rect">
            <a:avLst/>
          </a:prstGeom>
          <a:noFill/>
          <a:ln>
            <a:noFill/>
          </a:ln>
        </p:spPr>
      </p:pic>
      <p:sp>
        <p:nvSpPr>
          <p:cNvPr id="6" name="TextBox 5">
            <a:extLst>
              <a:ext uri="{FF2B5EF4-FFF2-40B4-BE49-F238E27FC236}">
                <a16:creationId xmlns:a16="http://schemas.microsoft.com/office/drawing/2014/main" id="{000F93BF-F706-C597-2EA2-FB3C33B61910}"/>
              </a:ext>
            </a:extLst>
          </p:cNvPr>
          <p:cNvSpPr txBox="1"/>
          <p:nvPr/>
        </p:nvSpPr>
        <p:spPr>
          <a:xfrm>
            <a:off x="1012280" y="491364"/>
            <a:ext cx="7293430" cy="1718419"/>
          </a:xfrm>
          <a:prstGeom prst="rect">
            <a:avLst/>
          </a:prstGeom>
          <a:noFill/>
        </p:spPr>
        <p:txBody>
          <a:bodyPr wrap="square">
            <a:spAutoFit/>
          </a:bodyPr>
          <a:lstStyle/>
          <a:p>
            <a:pPr algn="ctr">
              <a:spcBef>
                <a:spcPts val="600"/>
              </a:spcBef>
              <a:spcAft>
                <a:spcPts val="700"/>
              </a:spcAft>
              <a:buNone/>
            </a:pPr>
            <a:r>
              <a:rPr lang="en-IN" sz="2800" b="1" dirty="0">
                <a:solidFill>
                  <a:srgbClr val="1F4E79"/>
                </a:solidFill>
                <a:effectLst/>
                <a:latin typeface="Algerian" panose="04020705040A02060702" pitchFamily="82" charset="0"/>
                <a:ea typeface="Arial" panose="020B0604020202020204" pitchFamily="34" charset="0"/>
              </a:rPr>
              <a:t>UNIVERSITY OF AGRICULTURAL SCIENCES ,</a:t>
            </a:r>
            <a:endParaRPr lang="en-IN" sz="1200" dirty="0">
              <a:effectLst/>
              <a:latin typeface="Arial" panose="020B0604020202020204" pitchFamily="34" charset="0"/>
              <a:ea typeface="Arial" panose="020B0604020202020204" pitchFamily="34" charset="0"/>
            </a:endParaRPr>
          </a:p>
          <a:p>
            <a:pPr algn="ctr">
              <a:spcBef>
                <a:spcPts val="600"/>
              </a:spcBef>
              <a:spcAft>
                <a:spcPts val="700"/>
              </a:spcAft>
              <a:buNone/>
            </a:pPr>
            <a:r>
              <a:rPr lang="en-IN" sz="2800" b="1" dirty="0">
                <a:solidFill>
                  <a:srgbClr val="1F4E79"/>
                </a:solidFill>
                <a:effectLst/>
                <a:latin typeface="Algerian" panose="04020705040A02060702" pitchFamily="82" charset="0"/>
                <a:ea typeface="Arial" panose="020B0604020202020204" pitchFamily="34" charset="0"/>
              </a:rPr>
              <a:t>COLLEGE OF AGRICULTURE,</a:t>
            </a:r>
            <a:endParaRPr lang="en-IN" sz="1200" dirty="0">
              <a:effectLst/>
              <a:latin typeface="Arial" panose="020B0604020202020204" pitchFamily="34" charset="0"/>
              <a:ea typeface="Arial" panose="020B0604020202020204" pitchFamily="34" charset="0"/>
            </a:endParaRPr>
          </a:p>
          <a:p>
            <a:pPr algn="ctr">
              <a:spcBef>
                <a:spcPts val="600"/>
              </a:spcBef>
              <a:spcAft>
                <a:spcPts val="700"/>
              </a:spcAft>
              <a:buNone/>
            </a:pPr>
            <a:r>
              <a:rPr lang="en-IN" sz="2800" b="1" dirty="0">
                <a:solidFill>
                  <a:srgbClr val="1F4E79"/>
                </a:solidFill>
                <a:effectLst/>
                <a:latin typeface="Algerian" panose="04020705040A02060702" pitchFamily="82" charset="0"/>
                <a:ea typeface="Arial" panose="020B0604020202020204" pitchFamily="34" charset="0"/>
              </a:rPr>
              <a:t>GKVK, BANGLORE</a:t>
            </a:r>
            <a:endParaRPr lang="en-IN" sz="12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07688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A67D4-B5AC-88D0-1315-459ABFF5F7FD}"/>
              </a:ext>
            </a:extLst>
          </p:cNvPr>
          <p:cNvSpPr>
            <a:spLocks noGrp="1"/>
          </p:cNvSpPr>
          <p:nvPr>
            <p:ph type="title"/>
          </p:nvPr>
        </p:nvSpPr>
        <p:spPr>
          <a:xfrm>
            <a:off x="838200" y="18255"/>
            <a:ext cx="10515600" cy="1325563"/>
          </a:xfrm>
        </p:spPr>
        <p:txBody>
          <a:bodyPr/>
          <a:lstStyle/>
          <a:p>
            <a:r>
              <a:rPr lang="en-IN">
                <a:latin typeface="Times New Roman" panose="02020603050405020304" pitchFamily="18" charset="0"/>
                <a:cs typeface="Times New Roman" panose="02020603050405020304" pitchFamily="18" charset="0"/>
              </a:rPr>
              <a:t>Content</a:t>
            </a:r>
          </a:p>
        </p:txBody>
      </p:sp>
      <p:sp>
        <p:nvSpPr>
          <p:cNvPr id="3" name="Content Placeholder 2">
            <a:extLst>
              <a:ext uri="{FF2B5EF4-FFF2-40B4-BE49-F238E27FC236}">
                <a16:creationId xmlns:a16="http://schemas.microsoft.com/office/drawing/2014/main" id="{D305BA53-3DA3-A241-19B4-AAADAD8A077F}"/>
              </a:ext>
            </a:extLst>
          </p:cNvPr>
          <p:cNvSpPr>
            <a:spLocks noGrp="1"/>
          </p:cNvSpPr>
          <p:nvPr>
            <p:ph idx="1"/>
          </p:nvPr>
        </p:nvSpPr>
        <p:spPr>
          <a:xfrm>
            <a:off x="838200" y="1131570"/>
            <a:ext cx="10515600" cy="5045393"/>
          </a:xfrm>
        </p:spPr>
        <p:txBody>
          <a:bodyPr>
            <a:normAutofit fontScale="70000" lnSpcReduction="20000"/>
          </a:bodyPr>
          <a:lstStyle/>
          <a:p>
            <a:pPr marL="457200" indent="-457200">
              <a:buFont typeface="+mj-lt"/>
              <a:buAutoNum type="arabicPeriod"/>
            </a:pPr>
            <a:endParaRPr lang="en-IN"/>
          </a:p>
          <a:p>
            <a:pPr marL="514350" indent="-514350">
              <a:buFont typeface="+mj-lt"/>
              <a:buAutoNum type="arabicPeriod"/>
            </a:pPr>
            <a:r>
              <a:rPr lang="en-IN" sz="330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IN" sz="3300">
                <a:latin typeface="Times New Roman" panose="02020603050405020304" pitchFamily="18" charset="0"/>
                <a:cs typeface="Times New Roman" panose="02020603050405020304" pitchFamily="18" charset="0"/>
              </a:rPr>
              <a:t>Problem Statement</a:t>
            </a:r>
          </a:p>
          <a:p>
            <a:pPr marL="514350" indent="-514350">
              <a:buFont typeface="+mj-lt"/>
              <a:buAutoNum type="arabicPeriod"/>
            </a:pPr>
            <a:r>
              <a:rPr lang="en-IN" sz="3300">
                <a:latin typeface="Times New Roman" panose="02020603050405020304" pitchFamily="18" charset="0"/>
                <a:cs typeface="Times New Roman" panose="02020603050405020304" pitchFamily="18" charset="0"/>
              </a:rPr>
              <a:t>Motivation</a:t>
            </a:r>
          </a:p>
          <a:p>
            <a:pPr marL="514350" indent="-514350">
              <a:buFont typeface="+mj-lt"/>
              <a:buAutoNum type="arabicPeriod"/>
            </a:pPr>
            <a:r>
              <a:rPr lang="en-IN" sz="3300">
                <a:latin typeface="Times New Roman" panose="02020603050405020304" pitchFamily="18" charset="0"/>
                <a:cs typeface="Times New Roman" panose="02020603050405020304" pitchFamily="18" charset="0"/>
              </a:rPr>
              <a:t>Objectives of the project</a:t>
            </a:r>
          </a:p>
          <a:p>
            <a:pPr marL="514350" indent="-514350">
              <a:buFont typeface="+mj-lt"/>
              <a:buAutoNum type="arabicPeriod"/>
            </a:pPr>
            <a:r>
              <a:rPr lang="en-IN" sz="3300">
                <a:latin typeface="Times New Roman" panose="02020603050405020304" pitchFamily="18" charset="0"/>
                <a:cs typeface="Times New Roman" panose="02020603050405020304" pitchFamily="18" charset="0"/>
              </a:rPr>
              <a:t>Dataset Overview</a:t>
            </a:r>
          </a:p>
          <a:p>
            <a:pPr marL="514350" indent="-514350">
              <a:buFont typeface="+mj-lt"/>
              <a:buAutoNum type="arabicPeriod"/>
            </a:pPr>
            <a:r>
              <a:rPr lang="en-IN" sz="3300">
                <a:latin typeface="Times New Roman" panose="02020603050405020304" pitchFamily="18" charset="0"/>
                <a:cs typeface="Times New Roman" panose="02020603050405020304" pitchFamily="18" charset="0"/>
              </a:rPr>
              <a:t>Methodlogy/approach</a:t>
            </a:r>
          </a:p>
          <a:p>
            <a:pPr marL="514350" indent="-514350">
              <a:buFont typeface="+mj-lt"/>
              <a:buAutoNum type="arabicPeriod"/>
            </a:pPr>
            <a:r>
              <a:rPr lang="en-IN" sz="3300">
                <a:latin typeface="Times New Roman" panose="02020603050405020304" pitchFamily="18" charset="0"/>
                <a:cs typeface="Times New Roman" panose="02020603050405020304" pitchFamily="18" charset="0"/>
              </a:rPr>
              <a:t>Tools and Technologies Used</a:t>
            </a:r>
          </a:p>
          <a:p>
            <a:pPr marL="514350" indent="-514350">
              <a:buFont typeface="+mj-lt"/>
              <a:buAutoNum type="arabicPeriod"/>
            </a:pPr>
            <a:r>
              <a:rPr lang="en-IN" sz="3300">
                <a:latin typeface="Times New Roman" panose="02020603050405020304" pitchFamily="18" charset="0"/>
                <a:cs typeface="Times New Roman" panose="02020603050405020304" pitchFamily="18" charset="0"/>
              </a:rPr>
              <a:t>Results</a:t>
            </a:r>
          </a:p>
          <a:p>
            <a:pPr marL="514350" indent="-514350">
              <a:buFont typeface="+mj-lt"/>
              <a:buAutoNum type="arabicPeriod"/>
            </a:pPr>
            <a:r>
              <a:rPr lang="en-IN" sz="3300">
                <a:latin typeface="Times New Roman" panose="02020603050405020304" pitchFamily="18" charset="0"/>
                <a:cs typeface="Times New Roman" panose="02020603050405020304" pitchFamily="18" charset="0"/>
              </a:rPr>
              <a:t>Discussion / Analysis</a:t>
            </a:r>
          </a:p>
          <a:p>
            <a:pPr marL="514350" indent="-514350">
              <a:buFont typeface="+mj-lt"/>
              <a:buAutoNum type="arabicPeriod"/>
            </a:pPr>
            <a:r>
              <a:rPr lang="en-IN" sz="3300">
                <a:latin typeface="Times New Roman" panose="02020603050405020304" pitchFamily="18" charset="0"/>
                <a:cs typeface="Times New Roman" panose="02020603050405020304" pitchFamily="18" charset="0"/>
              </a:rPr>
              <a:t>Conclusion and Future Work</a:t>
            </a:r>
          </a:p>
          <a:p>
            <a:pPr marL="514350" indent="-514350">
              <a:buFont typeface="+mj-lt"/>
              <a:buAutoNum type="arabicPeriod"/>
            </a:pPr>
            <a:r>
              <a:rPr lang="en-IN" sz="3300">
                <a:latin typeface="Times New Roman" panose="02020603050405020304" pitchFamily="18" charset="0"/>
                <a:cs typeface="Times New Roman" panose="02020603050405020304" pitchFamily="18" charset="0"/>
              </a:rPr>
              <a:t>References/Acknowledgements</a:t>
            </a:r>
          </a:p>
          <a:p>
            <a:pPr marL="457200" indent="-457200">
              <a:buFont typeface="+mj-lt"/>
              <a:buAutoNum type="arabicPeriod"/>
            </a:pPr>
            <a:endParaRPr lang="en-IN"/>
          </a:p>
        </p:txBody>
      </p:sp>
    </p:spTree>
    <p:extLst>
      <p:ext uri="{BB962C8B-B14F-4D97-AF65-F5344CB8AC3E}">
        <p14:creationId xmlns:p14="http://schemas.microsoft.com/office/powerpoint/2010/main" val="3355718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388F0-1B1A-F8E0-28FB-2E91D41353DD}"/>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54BC2088-2537-C898-EDE8-F29A38AB465E}"/>
              </a:ext>
            </a:extLst>
          </p:cNvPr>
          <p:cNvSpPr>
            <a:spLocks noGrp="1"/>
          </p:cNvSpPr>
          <p:nvPr>
            <p:ph idx="1"/>
          </p:nvPr>
        </p:nvSpPr>
        <p:spPr>
          <a:xfrm>
            <a:off x="571622" y="1737360"/>
            <a:ext cx="10058400" cy="4023360"/>
          </a:xfrm>
        </p:spPr>
        <p:txBody>
          <a:bodyPr/>
          <a:lstStyle/>
          <a:p>
            <a:pPr marL="457200" indent="-457200">
              <a:buFont typeface="+mj-lt"/>
              <a:buAutoNum type="arabicPeriod"/>
            </a:pPr>
            <a:r>
              <a:rPr lang="kn-IN" dirty="0">
                <a:latin typeface="Times New Roman" panose="02020603050405020304" pitchFamily="18" charset="0"/>
                <a:cs typeface="Times New Roman" panose="02020603050405020304" pitchFamily="18" charset="0"/>
              </a:rPr>
              <a:t>Indian agriculture feeds over 1.4 billion people but suffers from low productivity and climate vulnerability
Fodder production is underfunded despite livestock contributing ~26% to agricultural GDP
Fodder availability is the key constraint limiting livestock productivity
Nitrogen (N) and Phosphorus (P) are critical for biomass and dry matter yield in fodder crops
Fertilizer use is often unscientific, causing overuse (environmental harm) or underuse (25–40% yield gaps)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855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EC64E-6259-BDEB-81C7-0AA3632683C2}"/>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13F4DE5B-6CAB-30B3-9B45-552EB9F59200}"/>
              </a:ext>
            </a:extLst>
          </p:cNvPr>
          <p:cNvSpPr>
            <a:spLocks noGrp="1"/>
          </p:cNvSpPr>
          <p:nvPr>
            <p:ph idx="1"/>
          </p:nvPr>
        </p:nvSpPr>
        <p:spPr/>
        <p:txBody>
          <a:bodyPr/>
          <a:lstStyle/>
          <a:p>
            <a:pPr marL="457200" indent="-457200">
              <a:buFont typeface="+mj-lt"/>
              <a:buAutoNum type="arabicPeriod"/>
            </a:pPr>
            <a:r>
              <a:rPr lang="kn-IN" dirty="0">
                <a:latin typeface="Times New Roman" panose="02020603050405020304" pitchFamily="18" charset="0"/>
                <a:cs typeface="Times New Roman" panose="02020603050405020304" pitchFamily="18" charset="0"/>
              </a:rPr>
              <a:t>Gap exists between AI research and real-world adoption in agriculture
Limited use of AI/ML specifically for fodder crop nutrient optimization
No validated model for N–P optimization in fodder sorghum
Lack of solutions tailored to Eastern Dry Zone of Karnataka conditions
Project integrates field experiments (RCBD) with ML model development and deployment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0363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78E53-408F-025E-A2C8-E0A26CA86A40}"/>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Motivation</a:t>
            </a:r>
          </a:p>
        </p:txBody>
      </p:sp>
      <p:sp>
        <p:nvSpPr>
          <p:cNvPr id="3" name="Content Placeholder 2">
            <a:extLst>
              <a:ext uri="{FF2B5EF4-FFF2-40B4-BE49-F238E27FC236}">
                <a16:creationId xmlns:a16="http://schemas.microsoft.com/office/drawing/2014/main" id="{87956503-8164-BAD0-BA07-89BB5BB1D8CA}"/>
              </a:ext>
            </a:extLst>
          </p:cNvPr>
          <p:cNvSpPr>
            <a:spLocks noGrp="1"/>
          </p:cNvSpPr>
          <p:nvPr>
            <p:ph idx="1"/>
          </p:nvPr>
        </p:nvSpPr>
        <p:spPr/>
        <p:txBody>
          <a:bodyPr/>
          <a:lstStyle/>
          <a:p>
            <a:pPr marL="457200" indent="-457200">
              <a:buFont typeface="+mj-lt"/>
              <a:buAutoNum type="arabicPeriod"/>
            </a:pPr>
            <a:r>
              <a:rPr lang="kn-IN" dirty="0">
                <a:latin typeface="Times New Roman" panose="02020603050405020304" pitchFamily="18" charset="0"/>
                <a:cs typeface="Times New Roman" panose="02020603050405020304" pitchFamily="18" charset="0"/>
              </a:rPr>
              <a:t>Fodder shortage reduces livestock productivity and farmer income
Improper fertilizer use causes yield loss and environmental damage
Optimizing N–P improves fodder yield and resource efficiency
Helps farmers adopt precision and climate-smart agriculture
Bridges gap between AI research and real farm applications
Provides region-specific, data-driven solutions for better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0934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05121-F97F-AF46-002F-0D26DA44197F}"/>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Objectives of the Project</a:t>
            </a:r>
          </a:p>
        </p:txBody>
      </p:sp>
      <p:sp>
        <p:nvSpPr>
          <p:cNvPr id="3" name="Content Placeholder 2">
            <a:extLst>
              <a:ext uri="{FF2B5EF4-FFF2-40B4-BE49-F238E27FC236}">
                <a16:creationId xmlns:a16="http://schemas.microsoft.com/office/drawing/2014/main" id="{9EE08854-5D5C-AE73-4312-FD562407ABF0}"/>
              </a:ext>
            </a:extLst>
          </p:cNvPr>
          <p:cNvSpPr>
            <a:spLocks noGrp="1"/>
          </p:cNvSpPr>
          <p:nvPr>
            <p:ph idx="1"/>
          </p:nvPr>
        </p:nvSpPr>
        <p:spPr/>
        <p:txBody>
          <a:bodyPr>
            <a:normAutofit/>
          </a:bodyPr>
          <a:lstStyle/>
          <a:p>
            <a:pPr marL="457200" indent="-457200">
              <a:buFont typeface="+mj-lt"/>
              <a:buAutoNum type="arabicPeriod"/>
            </a:pPr>
            <a:r>
              <a:rPr lang="kn-IN" dirty="0">
                <a:latin typeface="Times New Roman" panose="02020603050405020304" pitchFamily="18" charset="0"/>
                <a:cs typeface="Times New Roman" panose="02020603050405020304" pitchFamily="18" charset="0"/>
              </a:rPr>
              <a:t>Develop ML model to predict growth and fodder yield with ≥85% accuracy (R² ≥ 0.85)
Use inputs like N–P levels, soil properties, and environmental factors
Build AI system to recommend optimal fertilizer dose (50–200% RDNP)
Validate recommendations using RCBD field experiment (Rabi 2024)
Design integrated system with IoT sensors, cloud ML, and advisory interface
Compare the ML Models  for crop yield production in Agriculture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753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7B1EC-DAE1-08A1-0D2C-E648A8BEBC50}"/>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Dataset Overview</a:t>
            </a:r>
          </a:p>
        </p:txBody>
      </p:sp>
      <p:sp>
        <p:nvSpPr>
          <p:cNvPr id="3" name="Content Placeholder 2">
            <a:extLst>
              <a:ext uri="{FF2B5EF4-FFF2-40B4-BE49-F238E27FC236}">
                <a16:creationId xmlns:a16="http://schemas.microsoft.com/office/drawing/2014/main" id="{248B5BF8-B967-AEEC-0908-E970CFB8EABA}"/>
              </a:ext>
            </a:extLst>
          </p:cNvPr>
          <p:cNvSpPr>
            <a:spLocks noGrp="1"/>
          </p:cNvSpPr>
          <p:nvPr>
            <p:ph idx="1"/>
          </p:nvPr>
        </p:nvSpPr>
        <p:spPr>
          <a:xfrm>
            <a:off x="562330" y="1737102"/>
            <a:ext cx="9709592" cy="3713860"/>
          </a:xfrm>
        </p:spPr>
        <p:txBody>
          <a:bodyPr>
            <a:noAutofit/>
          </a:bodyPr>
          <a:lstStyle/>
          <a:p>
            <a:pPr marL="342900" indent="-342900">
              <a:buFont typeface="+mj-lt"/>
              <a:buAutoNum type="arabicPeriod"/>
            </a:pPr>
            <a:r>
              <a:rPr lang="kn-IN" sz="1800" b="1" dirty="0">
                <a:latin typeface="Times New Roman" panose="02020603050405020304" pitchFamily="18" charset="0"/>
                <a:cs typeface="Times New Roman" panose="02020603050405020304" pitchFamily="18" charset="0"/>
              </a:rPr>
              <a:t>Source of Data</a:t>
            </a:r>
          </a:p>
          <a:p>
            <a:pPr marL="342900" indent="-342900">
              <a:buFont typeface="+mj-lt"/>
              <a:buAutoNum type="arabicPeriod"/>
            </a:pPr>
            <a:r>
              <a:rPr lang="kn-IN" sz="1800" dirty="0">
                <a:latin typeface="Times New Roman" panose="02020603050405020304" pitchFamily="18" charset="0"/>
                <a:cs typeface="Times New Roman" panose="02020603050405020304" pitchFamily="18" charset="0"/>
              </a:rPr>
              <a:t>Primary data collected from Rabi 2024 field experiment (RCBD design) at GKVK, Bengaluru
</a:t>
            </a:r>
            <a:r>
              <a:rPr lang="kn-IN" sz="1800" b="1" dirty="0">
                <a:latin typeface="Times New Roman" panose="02020603050405020304" pitchFamily="18" charset="0"/>
                <a:cs typeface="Times New Roman" panose="02020603050405020304" pitchFamily="18" charset="0"/>
              </a:rPr>
              <a:t>Dataset Size</a:t>
            </a:r>
            <a:r>
              <a:rPr lang="kn-IN" sz="1800" dirty="0">
                <a:latin typeface="Times New Roman" panose="02020603050405020304" pitchFamily="18" charset="0"/>
                <a:cs typeface="Times New Roman" panose="02020603050405020304" pitchFamily="18" charset="0"/>
              </a:rPr>
              <a:t>
21 plots with 3 replications
63 growth observations + 21 yield observations
</a:t>
            </a:r>
            <a:r>
              <a:rPr lang="kn-IN" sz="1800" b="1" dirty="0">
                <a:latin typeface="Times New Roman" panose="02020603050405020304" pitchFamily="18" charset="0"/>
                <a:cs typeface="Times New Roman" panose="02020603050405020304" pitchFamily="18" charset="0"/>
              </a:rPr>
              <a:t>Secondary</a:t>
            </a:r>
            <a:r>
              <a:rPr lang="kn-IN" sz="1800" dirty="0">
                <a:latin typeface="Times New Roman" panose="02020603050405020304" pitchFamily="18" charset="0"/>
                <a:cs typeface="Times New Roman" panose="02020603050405020304" pitchFamily="18" charset="0"/>
              </a:rPr>
              <a:t> &amp; </a:t>
            </a:r>
            <a:r>
              <a:rPr lang="kn-IN" sz="1800" b="1" dirty="0">
                <a:latin typeface="Times New Roman" panose="02020603050405020304" pitchFamily="18" charset="0"/>
                <a:cs typeface="Times New Roman" panose="02020603050405020304" pitchFamily="18" charset="0"/>
              </a:rPr>
              <a:t>Augmented</a:t>
            </a:r>
            <a:r>
              <a:rPr lang="kn-IN" sz="1800" dirty="0">
                <a:latin typeface="Times New Roman" panose="02020603050405020304" pitchFamily="18" charset="0"/>
                <a:cs typeface="Times New Roman" panose="02020603050405020304" pitchFamily="18" charset="0"/>
              </a:rPr>
              <a:t> </a:t>
            </a:r>
            <a:r>
              <a:rPr lang="kn-IN" sz="1800" b="1" dirty="0">
                <a:latin typeface="Times New Roman" panose="02020603050405020304" pitchFamily="18" charset="0"/>
                <a:cs typeface="Times New Roman" panose="02020603050405020304" pitchFamily="18" charset="0"/>
              </a:rPr>
              <a:t>Data</a:t>
            </a:r>
            <a:r>
              <a:rPr lang="kn-IN" sz="1800" dirty="0">
                <a:latin typeface="Times New Roman" panose="02020603050405020304" pitchFamily="18" charset="0"/>
                <a:cs typeface="Times New Roman" panose="02020603050405020304" pitchFamily="18" charset="0"/>
              </a:rPr>
              <a:t>
1200+ historical records (ICAR data)
500 synthetic samples added using bootstrapping
</a:t>
            </a:r>
            <a:r>
              <a:rPr lang="kn-IN" sz="1800" b="1" dirty="0">
                <a:latin typeface="Times New Roman" panose="02020603050405020304" pitchFamily="18" charset="0"/>
                <a:cs typeface="Times New Roman" panose="02020603050405020304" pitchFamily="18" charset="0"/>
              </a:rPr>
              <a:t>Input Features</a:t>
            </a:r>
            <a:r>
              <a:rPr lang="kn-IN" sz="1800" dirty="0">
                <a:latin typeface="Times New Roman" panose="02020603050405020304" pitchFamily="18" charset="0"/>
                <a:cs typeface="Times New Roman" panose="02020603050405020304" pitchFamily="18" charset="0"/>
              </a:rPr>
              <a:t>
Fertilizer levels (N &amp; P), plant height, leaf count, soil type, rainfall, temperature, NDVI
</a:t>
            </a:r>
            <a:r>
              <a:rPr lang="kn-IN" sz="1800" b="1" dirty="0">
                <a:latin typeface="Times New Roman" panose="02020603050405020304" pitchFamily="18" charset="0"/>
                <a:cs typeface="Times New Roman" panose="02020603050405020304" pitchFamily="18" charset="0"/>
              </a:rPr>
              <a:t>Target Variable</a:t>
            </a:r>
            <a:r>
              <a:rPr lang="kn-IN" sz="1800" dirty="0">
                <a:latin typeface="Times New Roman" panose="02020603050405020304" pitchFamily="18" charset="0"/>
                <a:cs typeface="Times New Roman" panose="02020603050405020304" pitchFamily="18" charset="0"/>
              </a:rPr>
              <a:t>
Fodder yield (kg per plot)</a:t>
            </a:r>
          </a:p>
        </p:txBody>
      </p:sp>
    </p:spTree>
    <p:extLst>
      <p:ext uri="{BB962C8B-B14F-4D97-AF65-F5344CB8AC3E}">
        <p14:creationId xmlns:p14="http://schemas.microsoft.com/office/powerpoint/2010/main" val="2004531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3D740-F2E2-BDCA-2DA5-50932A00CD48}"/>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Dataset</a:t>
            </a:r>
          </a:p>
        </p:txBody>
      </p:sp>
      <p:pic>
        <p:nvPicPr>
          <p:cNvPr id="8" name="Content Placeholder 7">
            <a:extLst>
              <a:ext uri="{FF2B5EF4-FFF2-40B4-BE49-F238E27FC236}">
                <a16:creationId xmlns:a16="http://schemas.microsoft.com/office/drawing/2014/main" id="{0CDF6D0C-9F85-AB27-92CB-83DF9F1CF2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4594" y="1165497"/>
            <a:ext cx="8953827" cy="4351338"/>
          </a:xfrm>
          <a:prstGeom prst="rect">
            <a:avLst/>
          </a:prstGeom>
        </p:spPr>
      </p:pic>
    </p:spTree>
    <p:extLst>
      <p:ext uri="{BB962C8B-B14F-4D97-AF65-F5344CB8AC3E}">
        <p14:creationId xmlns:p14="http://schemas.microsoft.com/office/powerpoint/2010/main" val="3793471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0EAB2-C356-0D86-3922-B30DFDC44E39}"/>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Methodology / Approach</a:t>
            </a:r>
          </a:p>
        </p:txBody>
      </p:sp>
      <p:sp>
        <p:nvSpPr>
          <p:cNvPr id="3" name="Content Placeholder 2">
            <a:extLst>
              <a:ext uri="{FF2B5EF4-FFF2-40B4-BE49-F238E27FC236}">
                <a16:creationId xmlns:a16="http://schemas.microsoft.com/office/drawing/2014/main" id="{C8870117-2D87-0233-B6C1-16B48E8E8420}"/>
              </a:ext>
            </a:extLst>
          </p:cNvPr>
          <p:cNvSpPr>
            <a:spLocks noGrp="1"/>
          </p:cNvSpPr>
          <p:nvPr>
            <p:ph idx="1"/>
          </p:nvPr>
        </p:nvSpPr>
        <p:spPr/>
        <p:txBody>
          <a:bodyPr>
            <a:normAutofit fontScale="40000" lnSpcReduction="20000"/>
          </a:bodyPr>
          <a:lstStyle/>
          <a:p>
            <a:pPr marL="514350" indent="-514350">
              <a:buFont typeface="+mj-lt"/>
              <a:buAutoNum type="arabicPeriod"/>
            </a:pPr>
            <a:r>
              <a:rPr lang="kn-IN" sz="3000" b="1" dirty="0">
                <a:latin typeface="Times New Roman" panose="02020603050405020304" pitchFamily="18" charset="0"/>
                <a:cs typeface="Times New Roman" panose="02020603050405020304" pitchFamily="18" charset="0"/>
              </a:rPr>
              <a:t>Data Cleaning &amp; Preprocessing</a:t>
            </a:r>
            <a:r>
              <a:rPr lang="kn-IN" sz="3000" dirty="0">
                <a:latin typeface="Times New Roman" panose="02020603050405020304" pitchFamily="18" charset="0"/>
                <a:cs typeface="Times New Roman" panose="02020603050405020304" pitchFamily="18" charset="0"/>
              </a:rPr>
              <a:t>
Handling missing values, removing outliers, and normalizing data for better model performance
Exploratory Data Analysis (EDA)
Understanding data patterns, relationships, and distributions using visualizations
</a:t>
            </a:r>
            <a:r>
              <a:rPr lang="kn-IN" sz="3000" b="1" dirty="0">
                <a:latin typeface="Times New Roman" panose="02020603050405020304" pitchFamily="18" charset="0"/>
                <a:cs typeface="Times New Roman" panose="02020603050405020304" pitchFamily="18" charset="0"/>
              </a:rPr>
              <a:t>Model / Algorithm Selection</a:t>
            </a:r>
            <a:r>
              <a:rPr lang="kn-IN" sz="3000" dirty="0">
                <a:latin typeface="Times New Roman" panose="02020603050405020304" pitchFamily="18" charset="0"/>
                <a:cs typeface="Times New Roman" panose="02020603050405020304" pitchFamily="18" charset="0"/>
              </a:rPr>
              <a:t>
Choosing suitable models like Linear Regression, Decision Tree, Random Forest, SVM, CNN-LSTM
</a:t>
            </a:r>
            <a:r>
              <a:rPr lang="kn-IN" sz="3000" b="1" dirty="0">
                <a:latin typeface="Times New Roman" panose="02020603050405020304" pitchFamily="18" charset="0"/>
                <a:cs typeface="Times New Roman" panose="02020603050405020304" pitchFamily="18" charset="0"/>
              </a:rPr>
              <a:t>Model Training &amp; Validation</a:t>
            </a:r>
            <a:r>
              <a:rPr lang="kn-IN" sz="3000" dirty="0">
                <a:latin typeface="Times New Roman" panose="02020603050405020304" pitchFamily="18" charset="0"/>
                <a:cs typeface="Times New Roman" panose="02020603050405020304" pitchFamily="18" charset="0"/>
              </a:rPr>
              <a:t>
Splitting data into training and testing sets to evaluate model performance
</a:t>
            </a:r>
            <a:r>
              <a:rPr lang="kn-IN" sz="3000" b="1" dirty="0">
                <a:latin typeface="Times New Roman" panose="02020603050405020304" pitchFamily="18" charset="0"/>
                <a:cs typeface="Times New Roman" panose="02020603050405020304" pitchFamily="18" charset="0"/>
              </a:rPr>
              <a:t>Evaluation</a:t>
            </a:r>
            <a:r>
              <a:rPr lang="kn-IN" sz="3000" dirty="0">
                <a:latin typeface="Times New Roman" panose="02020603050405020304" pitchFamily="18" charset="0"/>
                <a:cs typeface="Times New Roman" panose="02020603050405020304" pitchFamily="18" charset="0"/>
              </a:rPr>
              <a:t> </a:t>
            </a:r>
            <a:r>
              <a:rPr lang="kn-IN" sz="3000" b="1" dirty="0">
                <a:latin typeface="Times New Roman" panose="02020603050405020304" pitchFamily="18" charset="0"/>
                <a:cs typeface="Times New Roman" panose="02020603050405020304" pitchFamily="18" charset="0"/>
              </a:rPr>
              <a:t>Metrics</a:t>
            </a:r>
            <a:r>
              <a:rPr lang="kn-IN" sz="3000" dirty="0">
                <a:latin typeface="Times New Roman" panose="02020603050405020304" pitchFamily="18" charset="0"/>
                <a:cs typeface="Times New Roman" panose="02020603050405020304" pitchFamily="18" charset="0"/>
              </a:rPr>
              <a:t>
Accuracy
F1-Score
Confusion Matrix
Silhouette Score (for clustering)</a:t>
            </a:r>
            <a:endParaRPr lang="en-IN" sz="30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IN" dirty="0"/>
          </a:p>
        </p:txBody>
      </p:sp>
    </p:spTree>
    <p:extLst>
      <p:ext uri="{BB962C8B-B14F-4D97-AF65-F5344CB8AC3E}">
        <p14:creationId xmlns:p14="http://schemas.microsoft.com/office/powerpoint/2010/main" val="2890018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F3737-6A7E-FACA-1B48-F2B4C49FFBE4}"/>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Tools and Technologies Used</a:t>
            </a:r>
          </a:p>
        </p:txBody>
      </p:sp>
      <p:sp>
        <p:nvSpPr>
          <p:cNvPr id="3" name="Content Placeholder 2">
            <a:extLst>
              <a:ext uri="{FF2B5EF4-FFF2-40B4-BE49-F238E27FC236}">
                <a16:creationId xmlns:a16="http://schemas.microsoft.com/office/drawing/2014/main" id="{D2BE7DF8-8C69-C82E-B94C-865E63F26A65}"/>
              </a:ext>
            </a:extLst>
          </p:cNvPr>
          <p:cNvSpPr>
            <a:spLocks noGrp="1"/>
          </p:cNvSpPr>
          <p:nvPr>
            <p:ph idx="1"/>
          </p:nvPr>
        </p:nvSpPr>
        <p:spPr/>
        <p:txBody>
          <a:bodyPr>
            <a:normAutofit/>
          </a:bodyPr>
          <a:lstStyle/>
          <a:p>
            <a:pPr marL="457200" indent="-457200">
              <a:buFont typeface="+mj-lt"/>
              <a:buAutoNum type="arabicPeriod"/>
            </a:pPr>
            <a:r>
              <a:rPr lang="kn-IN" b="1" dirty="0"/>
              <a:t>Libraries</a:t>
            </a:r>
            <a:r>
              <a:rPr lang="kn-IN" dirty="0"/>
              <a:t> </a:t>
            </a:r>
            <a:r>
              <a:rPr lang="kn-IN" b="1" dirty="0"/>
              <a:t>Used</a:t>
            </a:r>
            <a:r>
              <a:rPr lang="kn-IN" dirty="0"/>
              <a:t>
Pandas – Data manipulation and analysis
NumPy – Numerical computations
Scikit-learn – Machine learning models
Matplotlib – Data visualization
</a:t>
            </a:r>
            <a:r>
              <a:rPr lang="kn-IN" b="1" dirty="0"/>
              <a:t>Development</a:t>
            </a:r>
            <a:r>
              <a:rPr lang="kn-IN" dirty="0"/>
              <a:t> </a:t>
            </a:r>
            <a:r>
              <a:rPr lang="kn-IN" b="1" dirty="0"/>
              <a:t>Environment</a:t>
            </a:r>
            <a:r>
              <a:rPr lang="kn-IN" dirty="0"/>
              <a:t>
Jupyter Notebook – Interactive coding &amp; visualization
Google Colab – Cloud-based execution with GPU support</a:t>
            </a:r>
            <a:endParaRPr lang="en-IN" dirty="0"/>
          </a:p>
        </p:txBody>
      </p:sp>
    </p:spTree>
    <p:extLst>
      <p:ext uri="{BB962C8B-B14F-4D97-AF65-F5344CB8AC3E}">
        <p14:creationId xmlns:p14="http://schemas.microsoft.com/office/powerpoint/2010/main" val="2510310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DE691-FF75-1D41-4B82-1910C98BFCFE}"/>
              </a:ext>
            </a:extLst>
          </p:cNvPr>
          <p:cNvSpPr>
            <a:spLocks noGrp="1"/>
          </p:cNvSpPr>
          <p:nvPr>
            <p:ph type="title"/>
          </p:nvPr>
        </p:nvSpPr>
        <p:spPr/>
        <p:txBody>
          <a:bodyPr/>
          <a:lstStyle/>
          <a:p>
            <a:r>
              <a:rPr lang="kn-IN" dirty="0"/>
              <a:t>RESULTS</a:t>
            </a:r>
            <a:endParaRPr lang="en-US" dirty="0"/>
          </a:p>
        </p:txBody>
      </p:sp>
      <p:pic>
        <p:nvPicPr>
          <p:cNvPr id="7" name="Content Placeholder 6">
            <a:extLst>
              <a:ext uri="{FF2B5EF4-FFF2-40B4-BE49-F238E27FC236}">
                <a16:creationId xmlns:a16="http://schemas.microsoft.com/office/drawing/2014/main" id="{5794CC30-1AB9-7AF3-37A0-FCF22E0D66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0007" y="1828799"/>
            <a:ext cx="9389097" cy="3601039"/>
          </a:xfrm>
          <a:prstGeom prst="rect">
            <a:avLst/>
          </a:prstGeom>
        </p:spPr>
      </p:pic>
    </p:spTree>
    <p:extLst>
      <p:ext uri="{BB962C8B-B14F-4D97-AF65-F5344CB8AC3E}">
        <p14:creationId xmlns:p14="http://schemas.microsoft.com/office/powerpoint/2010/main" val="1701169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3D067-D44D-2C01-5DCA-2D2B3B747955}"/>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Discussion / Analysis</a:t>
            </a:r>
          </a:p>
        </p:txBody>
      </p:sp>
      <p:sp>
        <p:nvSpPr>
          <p:cNvPr id="3" name="Content Placeholder 2">
            <a:extLst>
              <a:ext uri="{FF2B5EF4-FFF2-40B4-BE49-F238E27FC236}">
                <a16:creationId xmlns:a16="http://schemas.microsoft.com/office/drawing/2014/main" id="{59A64406-952C-94A7-6E55-7E59F23546E1}"/>
              </a:ext>
            </a:extLst>
          </p:cNvPr>
          <p:cNvSpPr>
            <a:spLocks noGrp="1"/>
          </p:cNvSpPr>
          <p:nvPr>
            <p:ph idx="1"/>
          </p:nvPr>
        </p:nvSpPr>
        <p:spPr/>
        <p:txBody>
          <a:bodyPr/>
          <a:lstStyle/>
          <a:p>
            <a:pPr marL="457200" indent="-457200">
              <a:buFont typeface="+mj-lt"/>
              <a:buAutoNum type="arabicPeriod"/>
            </a:pPr>
            <a:r>
              <a:rPr lang="kn-IN" dirty="0">
                <a:latin typeface="Times New Roman" panose="02020603050405020304" pitchFamily="18" charset="0"/>
                <a:cs typeface="Times New Roman" panose="02020603050405020304" pitchFamily="18" charset="0"/>
              </a:rPr>
              <a:t>Optimal fertilizer levels identified at 75% and 175% RDNP
Dataset limitations handled using augmentation techniques
Challenges included small dataset size and data variability
Model performance depends on quality of input features
Helps in precision farming and better fertilizer decision-making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1046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97EE7-CA32-48E0-B2F3-BD45410E36C3}"/>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Conclusion and Future Work</a:t>
            </a:r>
          </a:p>
        </p:txBody>
      </p:sp>
      <p:sp>
        <p:nvSpPr>
          <p:cNvPr id="3" name="Content Placeholder 2">
            <a:extLst>
              <a:ext uri="{FF2B5EF4-FFF2-40B4-BE49-F238E27FC236}">
                <a16:creationId xmlns:a16="http://schemas.microsoft.com/office/drawing/2014/main" id="{B5928239-6939-C5DC-DD9E-9BBDF60309CE}"/>
              </a:ext>
            </a:extLst>
          </p:cNvPr>
          <p:cNvSpPr>
            <a:spLocks noGrp="1"/>
          </p:cNvSpPr>
          <p:nvPr>
            <p:ph idx="1"/>
          </p:nvPr>
        </p:nvSpPr>
        <p:spPr/>
        <p:txBody>
          <a:bodyPr>
            <a:normAutofit/>
          </a:bodyPr>
          <a:lstStyle/>
          <a:p>
            <a:pPr marL="457200" indent="-457200">
              <a:buFont typeface="+mj-lt"/>
              <a:buAutoNum type="arabicPeriod"/>
            </a:pPr>
            <a:r>
              <a:rPr lang="kn-IN" dirty="0">
                <a:latin typeface="Times New Roman" panose="02020603050405020304" pitchFamily="18" charset="0"/>
                <a:cs typeface="Times New Roman" panose="02020603050405020304" pitchFamily="18" charset="0"/>
              </a:rPr>
              <a:t>Developed an AI/ML system for crop yield prediction and fertilizer optimization.
Performance can improve with more real-world data and advanced models
Future scope includes real-time systems using IoT and sensor integration
Practical application in precision farming and smart agricultural decision-making
Gained hands-on experience in data analysis, ML modeling, and problem-solving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7651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6E04A-F69A-8A3C-B3E7-98F07E31891E}"/>
              </a:ext>
            </a:extLst>
          </p:cNvPr>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References / Acknowledgements</a:t>
            </a:r>
          </a:p>
        </p:txBody>
      </p:sp>
      <p:sp>
        <p:nvSpPr>
          <p:cNvPr id="7" name="Content Placeholder 6">
            <a:extLst>
              <a:ext uri="{FF2B5EF4-FFF2-40B4-BE49-F238E27FC236}">
                <a16:creationId xmlns:a16="http://schemas.microsoft.com/office/drawing/2014/main" id="{AD82F03B-0394-F685-A678-8C8736FDBC52}"/>
              </a:ext>
            </a:extLst>
          </p:cNvPr>
          <p:cNvSpPr>
            <a:spLocks noGrp="1"/>
          </p:cNvSpPr>
          <p:nvPr>
            <p:ph idx="1"/>
          </p:nvPr>
        </p:nvSpPr>
        <p:spPr/>
        <p:txBody>
          <a:bodyPr>
            <a:normAutofit fontScale="92500" lnSpcReduction="10000"/>
          </a:bodyPr>
          <a:lstStyle/>
          <a:p>
            <a:pPr marL="514350" indent="-514350">
              <a:buFont typeface="+mj-lt"/>
              <a:buAutoNum type="arabicPeriod"/>
            </a:pPr>
            <a:r>
              <a:rPr lang="kn-IN" dirty="0"/>
              <a:t>Liu, J. </a:t>
            </a:r>
            <a:r>
              <a:rPr lang="en-IN" dirty="0"/>
              <a:t>E</a:t>
            </a:r>
            <a:r>
              <a:rPr lang="kn-IN" dirty="0"/>
              <a:t>t al. (2023) – Deep Reinforcement Learning for Nitrogen Management in Agriculture
Jones, J.W. </a:t>
            </a:r>
            <a:r>
              <a:rPr lang="en-IN" dirty="0"/>
              <a:t>E</a:t>
            </a:r>
            <a:r>
              <a:rPr lang="kn-IN" dirty="0"/>
              <a:t>t al. (2023) – Digital Twins for Crop Systems
MarketsandMarkets (2023) – AI in Agriculture Market Forecast Report
Shekara, B.G. </a:t>
            </a:r>
            <a:r>
              <a:rPr lang="en-IN" dirty="0"/>
              <a:t>E</a:t>
            </a:r>
            <a:r>
              <a:rPr lang="kn-IN" dirty="0"/>
              <a:t>t al. (2022) – ML-Based Fertilizer Optimization in Sugarcane
Zhu, Y. </a:t>
            </a:r>
            <a:r>
              <a:rPr lang="en-IN" dirty="0"/>
              <a:t>E</a:t>
            </a:r>
            <a:r>
              <a:rPr lang="kn-IN" dirty="0"/>
              <a:t>t al. (2021) – LSTM-Based Crop Yield Prediction
Balaji, M. &amp; Arunachalam, T. (2021) – IoT-Based Smart Agriculture System
Van Klompenburg, T. </a:t>
            </a:r>
            <a:r>
              <a:rPr lang="en-IN" dirty="0"/>
              <a:t>E</a:t>
            </a:r>
            <a:r>
              <a:rPr lang="kn-IN" dirty="0"/>
              <a:t>t al. (2020) – ML for Crop Yield Prediction (Review)
Talaviya, T. </a:t>
            </a:r>
            <a:r>
              <a:rPr lang="en-IN" dirty="0"/>
              <a:t>E</a:t>
            </a:r>
            <a:r>
              <a:rPr lang="kn-IN" dirty="0"/>
              <a:t>t al. (2020) – IoT Applications in Agriculture
Khaki, S. &amp; Wang, L. (2019) – Deep Learning for Crop Yield Prediction
Pantazi, X.E. </a:t>
            </a:r>
            <a:r>
              <a:rPr lang="en-IN" dirty="0"/>
              <a:t>E</a:t>
            </a:r>
            <a:r>
              <a:rPr lang="kn-IN" dirty="0"/>
              <a:t>t al. (2016) – Machine Learning in Precision Agriculture</a:t>
            </a:r>
            <a:endParaRPr lang="en-US" dirty="0"/>
          </a:p>
        </p:txBody>
      </p:sp>
    </p:spTree>
    <p:extLst>
      <p:ext uri="{BB962C8B-B14F-4D97-AF65-F5344CB8AC3E}">
        <p14:creationId xmlns:p14="http://schemas.microsoft.com/office/powerpoint/2010/main" val="357713688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46</TotalTime>
  <Words>908</Words>
  <Application>Microsoft Office PowerPoint</Application>
  <PresentationFormat>Widescreen</PresentationFormat>
  <Paragraphs>44</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Retrospect</vt:lpstr>
      <vt:lpstr>Application of Artificial Intelligence and Machine Learning for Crop Yield Prediction and Fertilizer Optimization in Fodder Sorghum (Sorghum bicolor)</vt:lpstr>
      <vt:lpstr>Content</vt:lpstr>
      <vt:lpstr>Introduction</vt:lpstr>
      <vt:lpstr>Problem Statement</vt:lpstr>
      <vt:lpstr>Motivation</vt:lpstr>
      <vt:lpstr>Objectives of the Project</vt:lpstr>
      <vt:lpstr>Dataset Overview</vt:lpstr>
      <vt:lpstr>Dataset</vt:lpstr>
      <vt:lpstr>Methodology / Approach</vt:lpstr>
      <vt:lpstr>Tools and Technologies Used</vt:lpstr>
      <vt:lpstr>RESULTS</vt:lpstr>
      <vt:lpstr>Discussion / Analysis</vt:lpstr>
      <vt:lpstr>Conclusion and Future Work</vt:lpstr>
      <vt:lpstr>References / 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of Artificial Intelligence and Machine Learning for Crop Yield Prediction and Fertilizer Optimization in Fodder Sorghum (Sorghum bicolor)</dc:title>
  <dc:creator>PRABHURAJ METIPATIL</dc:creator>
  <cp:lastModifiedBy>918861768092</cp:lastModifiedBy>
  <cp:revision>10</cp:revision>
  <dcterms:created xsi:type="dcterms:W3CDTF">2026-04-07T05:30:05Z</dcterms:created>
  <dcterms:modified xsi:type="dcterms:W3CDTF">2026-04-17T04:38:57Z</dcterms:modified>
</cp:coreProperties>
</file>